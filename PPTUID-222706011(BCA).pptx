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78" r:id="rId3"/>
    <p:sldId id="257" r:id="rId4"/>
    <p:sldId id="258" r:id="rId5"/>
    <p:sldId id="259" r:id="rId6"/>
    <p:sldId id="277" r:id="rId7"/>
    <p:sldId id="263" r:id="rId8"/>
    <p:sldId id="264" r:id="rId9"/>
    <p:sldId id="261" r:id="rId10"/>
    <p:sldId id="262" r:id="rId11"/>
    <p:sldId id="265" r:id="rId12"/>
    <p:sldId id="266" r:id="rId13"/>
    <p:sldId id="271" r:id="rId14"/>
    <p:sldId id="272" r:id="rId15"/>
    <p:sldId id="273" r:id="rId16"/>
    <p:sldId id="274" r:id="rId17"/>
    <p:sldId id="275" r:id="rId18"/>
    <p:sldId id="276" r:id="rId19"/>
    <p:sldId id="267" r:id="rId20"/>
    <p:sldId id="268" r:id="rId21"/>
    <p:sldId id="269" r:id="rId22"/>
    <p:sldId id="270" r:id="rId23"/>
    <p:sldId id="279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555" autoAdjust="0"/>
    <p:restoredTop sz="94713" autoAdjust="0"/>
  </p:normalViewPr>
  <p:slideViewPr>
    <p:cSldViewPr snapToGrid="0" snapToObjects="1">
      <p:cViewPr varScale="1">
        <p:scale>
          <a:sx n="65" d="100"/>
          <a:sy n="65" d="100"/>
        </p:scale>
        <p:origin x="1244" y="4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D01E97-3491-4674-BF57-C55643542CB7}" type="datetimeFigureOut">
              <a:rPr lang="en-US" smtClean="0"/>
              <a:t>8/17/2025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605651-9020-483F-AE7D-C77AA9E64D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7629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605651-9020-483F-AE7D-C77AA9E64D6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6036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www.pisoftinformatics.com/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g"/><Relationship Id="rId5" Type="http://schemas.openxmlformats.org/officeDocument/2006/relationships/image" Target="../media/image4.jp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pisoftinformatics.com/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jp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app.powerbi.com/reportEmbed?reportId=b4bd40b7-1a70-4350-9612-0c524557f65d&amp;autoAuth=true&amp;ctid=54c121f0-32f6-40bf-ad36-a976120fbdc3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6142" y="2569130"/>
            <a:ext cx="8751455" cy="1143000"/>
          </a:xfrm>
        </p:spPr>
        <p:txBody>
          <a:bodyPr>
            <a:noAutofit/>
          </a:bodyPr>
          <a:lstStyle/>
          <a:p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Optimizing Hospital Operations Through Data Insights</a:t>
            </a:r>
            <a:b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5110" y="4166466"/>
            <a:ext cx="4510920" cy="2086851"/>
          </a:xfrm>
        </p:spPr>
        <p:txBody>
          <a:bodyPr>
            <a:normAutofit fontScale="92500" lnSpcReduction="10000"/>
          </a:bodyPr>
          <a:lstStyle/>
          <a:p>
            <a:pPr marL="400050" lvl="1" indent="0" algn="ctr">
              <a:buNone/>
              <a:defRPr sz="1400">
                <a:solidFill>
                  <a:srgbClr val="000000"/>
                </a:solidFill>
                <a:latin typeface="Calibri"/>
              </a:defRPr>
            </a:pP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 </a:t>
            </a:r>
            <a:r>
              <a:rPr lang="en-US" sz="1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Komal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Rani</a:t>
            </a:r>
          </a:p>
          <a:p>
            <a:pPr marL="400050" lvl="1" indent="0" algn="ctr">
              <a:buNone/>
              <a:defRPr sz="1400">
                <a:solidFill>
                  <a:srgbClr val="000000"/>
                </a:solidFill>
                <a:latin typeface="Calibri"/>
              </a:defRPr>
            </a:pP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AUID: 222706011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lvl="1" indent="0" algn="ctr">
              <a:buNone/>
              <a:defRPr sz="1400">
                <a:solidFill>
                  <a:srgbClr val="000000"/>
                </a:solidFill>
                <a:latin typeface="Calibri"/>
              </a:defRPr>
            </a:pP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Course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BCA (H) Data Analytics (2022–2025)</a:t>
            </a:r>
          </a:p>
          <a:p>
            <a:pPr marL="400050" lvl="1" indent="0" algn="ctr">
              <a:buNone/>
              <a:defRPr sz="1400">
                <a:solidFill>
                  <a:srgbClr val="000000"/>
                </a:solidFill>
                <a:latin typeface="Calibri"/>
              </a:defRPr>
            </a:pP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Akal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University,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Talwandi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Sabo</a:t>
            </a:r>
          </a:p>
          <a:p>
            <a:pPr marL="400050" lvl="1" indent="0" algn="ctr">
              <a:buNone/>
              <a:defRPr sz="1400">
                <a:solidFill>
                  <a:srgbClr val="000000"/>
                </a:solidFill>
                <a:latin typeface="Calibri"/>
              </a:defRPr>
            </a:pP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Mentor- </a:t>
            </a:r>
            <a:r>
              <a:rPr lang="en-US" sz="1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Er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1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Zubair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Fayaz</a:t>
            </a:r>
            <a:endParaRPr lang="en-US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lvl="1" indent="0" algn="ctr">
              <a:buNone/>
              <a:defRPr sz="1400">
                <a:solidFill>
                  <a:srgbClr val="000000"/>
                </a:solidFill>
                <a:latin typeface="Calibri"/>
              </a:defRPr>
            </a:pP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Company Mentor – Miss </a:t>
            </a:r>
            <a:r>
              <a:rPr lang="en-US" sz="1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Tamanna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Singh</a:t>
            </a:r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  <a:defRPr sz="1400">
                <a:solidFill>
                  <a:srgbClr val="000000"/>
                </a:solidFill>
                <a:latin typeface="Calibri"/>
              </a:defRPr>
            </a:pP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  <a:defRPr sz="1400">
                <a:solidFill>
                  <a:srgbClr val="000000"/>
                </a:solidFill>
                <a:latin typeface="Calibri"/>
              </a:defRPr>
            </a:pPr>
            <a:endParaRPr lang="en-US" sz="2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  <a:defRPr sz="1400">
                <a:solidFill>
                  <a:srgbClr val="000000"/>
                </a:solidFill>
                <a:latin typeface="Calibri"/>
              </a:defRPr>
            </a:pP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  <a:defRPr sz="1400">
                <a:solidFill>
                  <a:srgbClr val="000000"/>
                </a:solidFill>
                <a:latin typeface="Calibri"/>
              </a:defRPr>
            </a:pPr>
            <a:endParaRPr lang="en-US" sz="2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/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99453" cy="89789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7832"/>
            <a:ext cx="8229600" cy="885568"/>
          </a:xfrm>
        </p:spPr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Table of Content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3451" y="825910"/>
            <a:ext cx="7497097" cy="5722374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About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he company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hospital operations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Why do hospital operations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eed optimization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 source and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ovelty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Datasets used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Project workflow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pages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Output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napshots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Real world impact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outcomes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20412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2221"/>
            <a:ext cx="8229600" cy="1143000"/>
          </a:xfrm>
        </p:spPr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About the Company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0480" y="3194536"/>
            <a:ext cx="8374694" cy="2065789"/>
          </a:xfrm>
        </p:spPr>
        <p:txBody>
          <a:bodyPr>
            <a:normAutofit fontScale="92500"/>
          </a:bodyPr>
          <a:lstStyle/>
          <a:p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rPr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Pisoft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Informatics Pvt. Ltd. – Mohali, Punjab</a:t>
            </a:r>
          </a:p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solutions provider – Software Dev</a:t>
            </a:r>
            <a:r>
              <a:rPr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ERP solutions, Digital Marketing, App dev,</a:t>
            </a:r>
            <a:r>
              <a:rPr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BI, Cloud Services</a:t>
            </a:r>
          </a:p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Industry clients across healthcare, finance, retail</a:t>
            </a:r>
          </a:p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 on bridging academic learning with real-world industry projects</a:t>
            </a:r>
          </a:p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Provided real hospital datasets for this </a:t>
            </a:r>
            <a:r>
              <a:rPr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project</a:t>
            </a:r>
            <a:endParaRPr lang="en-US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Website: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https://www.pisoftinformatics.com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/</a:t>
            </a:r>
            <a:endParaRPr lang="en-US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/>
          <p:nvPr/>
        </p:nvPicPr>
        <p:blipFill>
          <a:blip r:embed="rId3"/>
          <a:stretch>
            <a:fillRect/>
          </a:stretch>
        </p:blipFill>
        <p:spPr>
          <a:xfrm>
            <a:off x="2408181" y="1511865"/>
            <a:ext cx="4274185" cy="1185863"/>
          </a:xfrm>
          <a:prstGeom prst="rect">
            <a:avLst/>
          </a:prstGeom>
        </p:spPr>
      </p:pic>
      <p:pic>
        <p:nvPicPr>
          <p:cNvPr id="5" name="Content Placeholder 3"/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7974648" y="4224643"/>
            <a:ext cx="1169352" cy="1035682"/>
          </a:xfrm>
          <a:prstGeom prst="rect">
            <a:avLst/>
          </a:prstGeom>
        </p:spPr>
      </p:pic>
      <p:pic>
        <p:nvPicPr>
          <p:cNvPr id="6" name="Picture 5"/>
          <p:cNvPicPr/>
          <p:nvPr/>
        </p:nvPicPr>
        <p:blipFill>
          <a:blip r:embed="rId5"/>
          <a:stretch>
            <a:fillRect/>
          </a:stretch>
        </p:blipFill>
        <p:spPr>
          <a:xfrm>
            <a:off x="6682366" y="4196935"/>
            <a:ext cx="1078362" cy="1107362"/>
          </a:xfrm>
          <a:prstGeom prst="rect">
            <a:avLst/>
          </a:prstGeom>
        </p:spPr>
      </p:pic>
      <p:pic>
        <p:nvPicPr>
          <p:cNvPr id="7" name="Picture 6"/>
          <p:cNvPicPr/>
          <p:nvPr/>
        </p:nvPicPr>
        <p:blipFill>
          <a:blip r:embed="rId6"/>
          <a:stretch>
            <a:fillRect/>
          </a:stretch>
        </p:blipFill>
        <p:spPr>
          <a:xfrm>
            <a:off x="7113980" y="5623165"/>
            <a:ext cx="1816100" cy="91439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371600"/>
            <a:ext cx="8229600" cy="1143000"/>
          </a:xfrm>
        </p:spPr>
        <p:txBody>
          <a:bodyPr>
            <a:noAutofit/>
          </a:bodyPr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Hospital Operations &amp; Importance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2514600"/>
            <a:ext cx="8229600" cy="2611073"/>
          </a:xfrm>
        </p:spPr>
        <p:txBody>
          <a:bodyPr>
            <a:normAutofit/>
          </a:bodyPr>
          <a:lstStyle/>
          <a:p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OPD (Outpatient Department)</a:t>
            </a:r>
          </a:p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IPD (Inpatient Department)</a:t>
            </a:r>
          </a:p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Billing &amp; Revenue Management</a:t>
            </a:r>
          </a:p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Laboratory &amp; Diagnostics (LAB)</a:t>
            </a:r>
          </a:p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Resource &amp; Staff Management</a:t>
            </a:r>
          </a:p>
          <a:p>
            <a:pPr marL="0" indent="0">
              <a:buNone/>
              <a:defRPr sz="1400">
                <a:solidFill>
                  <a:srgbClr val="000000"/>
                </a:solidFill>
                <a:latin typeface="Calibri"/>
              </a:defRPr>
            </a:pPr>
            <a:endParaRPr lang="en-US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defRPr sz="1400">
                <a:solidFill>
                  <a:srgbClr val="000000"/>
                </a:solidFill>
                <a:latin typeface="Calibri"/>
              </a:defRPr>
            </a:pPr>
            <a:r>
              <a:rPr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Importance</a:t>
            </a:r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Ensuring smooth, efficient, and quality hospital service delivery.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17538"/>
            <a:ext cx="8229600" cy="1143000"/>
          </a:xfrm>
        </p:spPr>
        <p:txBody>
          <a:bodyPr>
            <a:noAutofit/>
          </a:bodyPr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Do Hospital Operations Need Optimization?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5500" y="1993900"/>
            <a:ext cx="8686800" cy="4622799"/>
          </a:xfrm>
        </p:spPr>
        <p:txBody>
          <a:bodyPr>
            <a:normAutofit/>
          </a:bodyPr>
          <a:lstStyle/>
          <a:p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defRPr sz="1400">
                <a:solidFill>
                  <a:srgbClr val="000000"/>
                </a:solidFill>
                <a:latin typeface="Calibri"/>
              </a:defRPr>
            </a:pP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Issues:</a:t>
            </a:r>
          </a:p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Inefficient resource allocation</a:t>
            </a:r>
          </a:p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rPr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Revenue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management gaps</a:t>
            </a:r>
          </a:p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ssues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IPD</a:t>
            </a:r>
          </a:p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clear identification of top </a:t>
            </a:r>
            <a:r>
              <a:rPr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services/doctors</a:t>
            </a:r>
            <a:endParaRPr lang="en-US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clear identification of 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good supplier</a:t>
            </a:r>
          </a:p>
          <a:p>
            <a:pPr marL="0" indent="0">
              <a:buNone/>
              <a:defRPr sz="1400">
                <a:solidFill>
                  <a:srgbClr val="000000"/>
                </a:solidFill>
                <a:latin typeface="Calibri"/>
              </a:defRPr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defRPr sz="1400">
                <a:solidFill>
                  <a:srgbClr val="000000"/>
                </a:solidFill>
                <a:latin typeface="Calibri"/>
              </a:defRPr>
            </a:pPr>
            <a:r>
              <a:rPr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Analytics Benefits:</a:t>
            </a:r>
          </a:p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Optimizing staff &amp; resources – right allocation of doctors/nurses at the right time</a:t>
            </a:r>
          </a:p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Improving patient experience </a:t>
            </a:r>
          </a:p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Revenue management 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rPr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Disease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trend analysis – track rising </a:t>
            </a:r>
            <a:r>
              <a:rPr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cases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0400" y="2286001"/>
            <a:ext cx="8229600" cy="25654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Problem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Statement: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Hospitals collect large volumes of operational data (OPD, IPD, LAB, inventory, staff scheduling).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is stored in different systems, making it hard to integrate.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Decision-making is often based on intuition or outdated reports.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tools for real-time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monitoring and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tracking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14399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412876"/>
            <a:ext cx="8229600" cy="1143000"/>
          </a:xfrm>
        </p:spPr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Source &amp; Novelty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25600" y="2670963"/>
            <a:ext cx="6375400" cy="1788952"/>
          </a:xfrm>
        </p:spPr>
        <p:txBody>
          <a:bodyPr>
            <a:normAutofit fontScale="92500" lnSpcReduction="10000"/>
          </a:bodyPr>
          <a:lstStyle/>
          <a:p>
            <a:endParaRPr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 hospital data, not simulated/public </a:t>
            </a:r>
            <a:r>
              <a:rPr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datasets</a:t>
            </a:r>
            <a:endParaRPr lang="en-US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rPr lang="en-US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 Source</a:t>
            </a:r>
            <a:r>
              <a:rPr lang="en-US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8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Pisoft</a:t>
            </a:r>
            <a:r>
              <a:rPr lang="en-US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Informatics Pvt. Ltd</a:t>
            </a:r>
          </a:p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rPr lang="en-US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Company Website</a:t>
            </a:r>
            <a:r>
              <a:rPr lang="en-US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https://www.pisoftinformatics.com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/</a:t>
            </a:r>
            <a:endParaRPr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 on operational efficiency rather than diagnosis only</a:t>
            </a:r>
          </a:p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Delivers data-driven decisions hospitals can use in real time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846138"/>
            <a:ext cx="8229600" cy="1143000"/>
          </a:xfrm>
        </p:spPr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3450" y="2159001"/>
            <a:ext cx="7277100" cy="2133599"/>
          </a:xfrm>
        </p:spPr>
        <p:txBody>
          <a:bodyPr>
            <a:normAutofit/>
          </a:bodyPr>
          <a:lstStyle/>
          <a:p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OPD.xlsx – 45K+ records (consultations, billing, services)</a:t>
            </a:r>
          </a:p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IPD.xlsx – 8.6K records (admissions, treatment, payments)</a:t>
            </a:r>
          </a:p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LAB.xlsx – 9K+ records (tests, charges, results)</a:t>
            </a:r>
          </a:p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rPr sz="1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Inventory_data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451 records (items, suppliers, cost)</a:t>
            </a:r>
          </a:p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rPr sz="1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Staff_Scheduling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1.8K records (shifts, roles, availability)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3045" y="133107"/>
            <a:ext cx="8229600" cy="1143000"/>
          </a:xfrm>
        </p:spPr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7439" y="4393049"/>
            <a:ext cx="6089121" cy="2149489"/>
          </a:xfrm>
        </p:spPr>
        <p:txBody>
          <a:bodyPr>
            <a:noAutofit/>
          </a:bodyPr>
          <a:lstStyle/>
          <a:p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defRPr sz="1400">
                <a:solidFill>
                  <a:srgbClr val="000000"/>
                </a:solidFill>
                <a:latin typeface="Calibri"/>
              </a:defRPr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Data acquisition from hospital</a:t>
            </a:r>
          </a:p>
          <a:p>
            <a:pPr marL="0" indent="0">
              <a:buNone/>
              <a:defRPr sz="1400">
                <a:solidFill>
                  <a:srgbClr val="000000"/>
                </a:solidFill>
                <a:latin typeface="Calibri"/>
              </a:defRPr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Data cleaning &amp; preprocessing (Python &amp; Excel)</a:t>
            </a:r>
          </a:p>
          <a:p>
            <a:pPr marL="0" indent="0">
              <a:buNone/>
              <a:defRPr sz="1400">
                <a:solidFill>
                  <a:srgbClr val="000000"/>
                </a:solidFill>
                <a:latin typeface="Calibri"/>
              </a:defRPr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Exploratory Data Analysis (EDA)</a:t>
            </a:r>
          </a:p>
          <a:p>
            <a:pPr marL="0" indent="0">
              <a:buNone/>
              <a:defRPr sz="1400">
                <a:solidFill>
                  <a:srgbClr val="000000"/>
                </a:solidFill>
                <a:latin typeface="Calibri"/>
              </a:defRPr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KPI calculation &amp; data modeling (Power BI + DAX)</a:t>
            </a:r>
          </a:p>
          <a:p>
            <a:pPr marL="0" indent="0">
              <a:buNone/>
              <a:defRPr sz="1400">
                <a:solidFill>
                  <a:srgbClr val="000000"/>
                </a:solidFill>
                <a:latin typeface="Calibri"/>
              </a:defRPr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Dashboard design &amp; publishing on Power BI Service</a:t>
            </a:r>
          </a:p>
          <a:p>
            <a:endParaRPr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698500" y="1075601"/>
            <a:ext cx="7681697" cy="4169499"/>
            <a:chOff x="0" y="0"/>
            <a:chExt cx="5590159" cy="3634636"/>
          </a:xfrm>
        </p:grpSpPr>
        <p:sp>
          <p:nvSpPr>
            <p:cNvPr id="5" name="Rectangle 4"/>
            <p:cNvSpPr/>
            <p:nvPr/>
          </p:nvSpPr>
          <p:spPr>
            <a:xfrm>
              <a:off x="5537962" y="3410255"/>
              <a:ext cx="50673" cy="224381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 indent="0" algn="l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20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</a:p>
          </p:txBody>
        </p:sp>
        <p:pic>
          <p:nvPicPr>
            <p:cNvPr id="6" name="Picture 5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5500116" y="3375660"/>
              <a:ext cx="50292" cy="225552"/>
            </a:xfrm>
            <a:prstGeom prst="rect">
              <a:avLst/>
            </a:prstGeom>
          </p:spPr>
        </p:pic>
        <p:sp>
          <p:nvSpPr>
            <p:cNvPr id="7" name="Rectangle 6"/>
            <p:cNvSpPr/>
            <p:nvPr/>
          </p:nvSpPr>
          <p:spPr>
            <a:xfrm>
              <a:off x="5501386" y="3378302"/>
              <a:ext cx="50673" cy="224380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 indent="0" algn="l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20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5539486" y="3378302"/>
              <a:ext cx="50673" cy="224380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 indent="0" algn="l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20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</a:p>
          </p:txBody>
        </p:sp>
        <p:pic>
          <p:nvPicPr>
            <p:cNvPr id="9" name="Picture 8"/>
            <p:cNvPicPr/>
            <p:nvPr/>
          </p:nvPicPr>
          <p:blipFill rotWithShape="1">
            <a:blip r:embed="rId3"/>
            <a:srcRect l="-1" r="8" b="4"/>
            <a:stretch/>
          </p:blipFill>
          <p:spPr>
            <a:xfrm>
              <a:off x="126483" y="0"/>
              <a:ext cx="5364114" cy="3509648"/>
            </a:xfrm>
            <a:prstGeom prst="rect">
              <a:avLst/>
            </a:prstGeom>
          </p:spPr>
        </p:pic>
        <p:sp>
          <p:nvSpPr>
            <p:cNvPr id="10" name="Shape 3024"/>
            <p:cNvSpPr/>
            <p:nvPr/>
          </p:nvSpPr>
          <p:spPr>
            <a:xfrm>
              <a:off x="0" y="556260"/>
              <a:ext cx="1335024" cy="1033271"/>
            </a:xfrm>
            <a:custGeom>
              <a:avLst/>
              <a:gdLst/>
              <a:ahLst/>
              <a:cxnLst/>
              <a:rect l="0" t="0" r="0" b="0"/>
              <a:pathLst>
                <a:path w="1335024" h="1033271">
                  <a:moveTo>
                    <a:pt x="172149" y="0"/>
                  </a:moveTo>
                  <a:lnTo>
                    <a:pt x="1162812" y="0"/>
                  </a:lnTo>
                  <a:cubicBezTo>
                    <a:pt x="1257935" y="0"/>
                    <a:pt x="1335024" y="77089"/>
                    <a:pt x="1335024" y="172085"/>
                  </a:cubicBezTo>
                  <a:lnTo>
                    <a:pt x="1335024" y="861060"/>
                  </a:lnTo>
                  <a:cubicBezTo>
                    <a:pt x="1335024" y="956183"/>
                    <a:pt x="1257935" y="1033271"/>
                    <a:pt x="1162812" y="1033271"/>
                  </a:cubicBezTo>
                  <a:lnTo>
                    <a:pt x="172149" y="1033271"/>
                  </a:lnTo>
                  <a:cubicBezTo>
                    <a:pt x="77064" y="1033271"/>
                    <a:pt x="0" y="956183"/>
                    <a:pt x="0" y="861060"/>
                  </a:cubicBezTo>
                  <a:lnTo>
                    <a:pt x="0" y="172085"/>
                  </a:lnTo>
                  <a:cubicBezTo>
                    <a:pt x="0" y="77089"/>
                    <a:pt x="77064" y="0"/>
                    <a:pt x="172149" y="0"/>
                  </a:cubicBezTo>
                  <a:close/>
                </a:path>
              </a:pathLst>
            </a:custGeom>
            <a:ln w="0" cap="sq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9DC3E6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sp>
          <p:nvSpPr>
            <p:cNvPr id="11" name="Shape 3025"/>
            <p:cNvSpPr/>
            <p:nvPr/>
          </p:nvSpPr>
          <p:spPr>
            <a:xfrm>
              <a:off x="0" y="556260"/>
              <a:ext cx="1335024" cy="1033271"/>
            </a:xfrm>
            <a:custGeom>
              <a:avLst/>
              <a:gdLst/>
              <a:ahLst/>
              <a:cxnLst/>
              <a:rect l="0" t="0" r="0" b="0"/>
              <a:pathLst>
                <a:path w="1335024" h="1033271">
                  <a:moveTo>
                    <a:pt x="0" y="172085"/>
                  </a:moveTo>
                  <a:cubicBezTo>
                    <a:pt x="0" y="77089"/>
                    <a:pt x="77064" y="0"/>
                    <a:pt x="172149" y="0"/>
                  </a:cubicBezTo>
                  <a:lnTo>
                    <a:pt x="1162812" y="0"/>
                  </a:lnTo>
                  <a:cubicBezTo>
                    <a:pt x="1257935" y="0"/>
                    <a:pt x="1335024" y="77089"/>
                    <a:pt x="1335024" y="172085"/>
                  </a:cubicBezTo>
                  <a:lnTo>
                    <a:pt x="1335024" y="861060"/>
                  </a:lnTo>
                  <a:cubicBezTo>
                    <a:pt x="1335024" y="956183"/>
                    <a:pt x="1257935" y="1033271"/>
                    <a:pt x="1162812" y="1033271"/>
                  </a:cubicBezTo>
                  <a:lnTo>
                    <a:pt x="172149" y="1033271"/>
                  </a:lnTo>
                  <a:cubicBezTo>
                    <a:pt x="77064" y="1033271"/>
                    <a:pt x="0" y="956183"/>
                    <a:pt x="0" y="861060"/>
                  </a:cubicBezTo>
                  <a:close/>
                </a:path>
              </a:pathLst>
            </a:custGeom>
            <a:ln w="12192" cap="flat">
              <a:miter lim="127000"/>
            </a:ln>
          </p:spPr>
          <p:style>
            <a:lnRef idx="1">
              <a:srgbClr val="41719C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pic>
          <p:nvPicPr>
            <p:cNvPr id="12" name="Picture 11"/>
            <p:cNvPicPr/>
            <p:nvPr/>
          </p:nvPicPr>
          <p:blipFill>
            <a:blip r:embed="rId4"/>
            <a:stretch>
              <a:fillRect/>
            </a:stretch>
          </p:blipFill>
          <p:spPr>
            <a:xfrm>
              <a:off x="149352" y="734568"/>
              <a:ext cx="1278636" cy="188976"/>
            </a:xfrm>
            <a:prstGeom prst="rect">
              <a:avLst/>
            </a:prstGeom>
          </p:spPr>
        </p:pic>
        <p:sp>
          <p:nvSpPr>
            <p:cNvPr id="13" name="Rectangle 12"/>
            <p:cNvSpPr/>
            <p:nvPr/>
          </p:nvSpPr>
          <p:spPr>
            <a:xfrm>
              <a:off x="149657" y="761365"/>
              <a:ext cx="1278111" cy="189937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 indent="0" algn="l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100" b="1"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Hospital Dataset</a:t>
              </a:r>
              <a:endParaRPr lang="en-US" sz="12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1109726" y="730733"/>
              <a:ext cx="50673" cy="224380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 indent="0" algn="l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20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</a:p>
          </p:txBody>
        </p:sp>
        <p:pic>
          <p:nvPicPr>
            <p:cNvPr id="15" name="Picture 14"/>
            <p:cNvPicPr/>
            <p:nvPr/>
          </p:nvPicPr>
          <p:blipFill>
            <a:blip r:embed="rId5"/>
            <a:stretch>
              <a:fillRect/>
            </a:stretch>
          </p:blipFill>
          <p:spPr>
            <a:xfrm>
              <a:off x="1110996" y="734568"/>
              <a:ext cx="42672" cy="188976"/>
            </a:xfrm>
            <a:prstGeom prst="rect">
              <a:avLst/>
            </a:prstGeom>
          </p:spPr>
        </p:pic>
        <p:sp>
          <p:nvSpPr>
            <p:cNvPr id="16" name="Rectangle 15"/>
            <p:cNvSpPr/>
            <p:nvPr/>
          </p:nvSpPr>
          <p:spPr>
            <a:xfrm>
              <a:off x="1111250" y="767461"/>
              <a:ext cx="42144" cy="189937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 indent="0" algn="l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100" b="1"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 </a:t>
              </a:r>
              <a:endParaRPr lang="en-US" sz="12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1143254" y="736829"/>
              <a:ext cx="50673" cy="224381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 indent="0" algn="l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20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</a:p>
          </p:txBody>
        </p:sp>
        <p:pic>
          <p:nvPicPr>
            <p:cNvPr id="18" name="Picture 17"/>
            <p:cNvPicPr/>
            <p:nvPr/>
          </p:nvPicPr>
          <p:blipFill>
            <a:blip r:embed="rId6"/>
            <a:stretch>
              <a:fillRect/>
            </a:stretch>
          </p:blipFill>
          <p:spPr>
            <a:xfrm>
              <a:off x="1143000" y="734568"/>
              <a:ext cx="57912" cy="188976"/>
            </a:xfrm>
            <a:prstGeom prst="rect">
              <a:avLst/>
            </a:prstGeom>
          </p:spPr>
        </p:pic>
        <p:sp>
          <p:nvSpPr>
            <p:cNvPr id="19" name="Rectangle 18"/>
            <p:cNvSpPr/>
            <p:nvPr/>
          </p:nvSpPr>
          <p:spPr>
            <a:xfrm>
              <a:off x="1143254" y="761365"/>
              <a:ext cx="58181" cy="189937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 indent="0" algn="l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100" b="1"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(</a:t>
              </a:r>
              <a:endParaRPr lang="en-US" sz="12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1187450" y="730733"/>
              <a:ext cx="50673" cy="224380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 indent="0" algn="l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20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</a:p>
          </p:txBody>
        </p:sp>
        <p:pic>
          <p:nvPicPr>
            <p:cNvPr id="21" name="Picture 20"/>
            <p:cNvPicPr/>
            <p:nvPr/>
          </p:nvPicPr>
          <p:blipFill>
            <a:blip r:embed="rId5"/>
            <a:stretch>
              <a:fillRect/>
            </a:stretch>
          </p:blipFill>
          <p:spPr>
            <a:xfrm>
              <a:off x="1185672" y="734568"/>
              <a:ext cx="42672" cy="188976"/>
            </a:xfrm>
            <a:prstGeom prst="rect">
              <a:avLst/>
            </a:prstGeom>
          </p:spPr>
        </p:pic>
        <p:sp>
          <p:nvSpPr>
            <p:cNvPr id="22" name="Rectangle 21"/>
            <p:cNvSpPr/>
            <p:nvPr/>
          </p:nvSpPr>
          <p:spPr>
            <a:xfrm>
              <a:off x="1185926" y="767461"/>
              <a:ext cx="42144" cy="189937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 indent="0" algn="l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100" b="1"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 </a:t>
              </a:r>
              <a:endParaRPr lang="en-US" sz="12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1217930" y="736829"/>
              <a:ext cx="50673" cy="224381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 indent="0" algn="l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20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</a:p>
          </p:txBody>
        </p:sp>
        <p:pic>
          <p:nvPicPr>
            <p:cNvPr id="24" name="Picture 23"/>
            <p:cNvPicPr/>
            <p:nvPr/>
          </p:nvPicPr>
          <p:blipFill>
            <a:blip r:embed="rId7"/>
            <a:stretch>
              <a:fillRect/>
            </a:stretch>
          </p:blipFill>
          <p:spPr>
            <a:xfrm>
              <a:off x="242316" y="917449"/>
              <a:ext cx="1132332" cy="190500"/>
            </a:xfrm>
            <a:prstGeom prst="rect">
              <a:avLst/>
            </a:prstGeom>
          </p:spPr>
        </p:pic>
        <p:sp>
          <p:nvSpPr>
            <p:cNvPr id="25" name="Rectangle 24"/>
            <p:cNvSpPr/>
            <p:nvPr/>
          </p:nvSpPr>
          <p:spPr>
            <a:xfrm>
              <a:off x="242621" y="944245"/>
              <a:ext cx="1131913" cy="189936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 indent="0" algn="l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100" b="1"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IPD, OPD, LAB,</a:t>
              </a:r>
              <a:endParaRPr lang="en-US" sz="12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1092962" y="913613"/>
              <a:ext cx="50673" cy="224379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 indent="0" algn="l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20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</a:p>
          </p:txBody>
        </p:sp>
        <p:pic>
          <p:nvPicPr>
            <p:cNvPr id="27" name="Picture 26"/>
            <p:cNvPicPr/>
            <p:nvPr/>
          </p:nvPicPr>
          <p:blipFill>
            <a:blip r:embed="rId5"/>
            <a:stretch>
              <a:fillRect/>
            </a:stretch>
          </p:blipFill>
          <p:spPr>
            <a:xfrm>
              <a:off x="1092708" y="917449"/>
              <a:ext cx="42672" cy="190500"/>
            </a:xfrm>
            <a:prstGeom prst="rect">
              <a:avLst/>
            </a:prstGeom>
          </p:spPr>
        </p:pic>
        <p:sp>
          <p:nvSpPr>
            <p:cNvPr id="28" name="Rectangle 27"/>
            <p:cNvSpPr/>
            <p:nvPr/>
          </p:nvSpPr>
          <p:spPr>
            <a:xfrm>
              <a:off x="1092962" y="950341"/>
              <a:ext cx="42144" cy="189937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 indent="0" algn="l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100" b="1"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 </a:t>
              </a:r>
              <a:endParaRPr lang="en-US" sz="12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124966" y="919709"/>
              <a:ext cx="50673" cy="224380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 indent="0" algn="l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20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</a:p>
          </p:txBody>
        </p:sp>
        <p:pic>
          <p:nvPicPr>
            <p:cNvPr id="30" name="Picture 29"/>
            <p:cNvPicPr/>
            <p:nvPr/>
          </p:nvPicPr>
          <p:blipFill>
            <a:blip r:embed="rId8"/>
            <a:stretch>
              <a:fillRect/>
            </a:stretch>
          </p:blipFill>
          <p:spPr>
            <a:xfrm>
              <a:off x="214884" y="1100328"/>
              <a:ext cx="1243584" cy="190500"/>
            </a:xfrm>
            <a:prstGeom prst="rect">
              <a:avLst/>
            </a:prstGeom>
          </p:spPr>
        </p:pic>
        <p:sp>
          <p:nvSpPr>
            <p:cNvPr id="31" name="Rectangle 30"/>
            <p:cNvSpPr/>
            <p:nvPr/>
          </p:nvSpPr>
          <p:spPr>
            <a:xfrm>
              <a:off x="215189" y="1127125"/>
              <a:ext cx="1243613" cy="189936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 indent="0" algn="l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100" b="1"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Inventory, Staff </a:t>
              </a:r>
              <a:endParaRPr lang="en-US" sz="12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32" name="Rectangle 31"/>
            <p:cNvSpPr/>
            <p:nvPr/>
          </p:nvSpPr>
          <p:spPr>
            <a:xfrm>
              <a:off x="1149350" y="1096493"/>
              <a:ext cx="50673" cy="224380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 indent="0" algn="l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20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</a:p>
          </p:txBody>
        </p:sp>
        <p:pic>
          <p:nvPicPr>
            <p:cNvPr id="33" name="Picture 32"/>
            <p:cNvPicPr/>
            <p:nvPr/>
          </p:nvPicPr>
          <p:blipFill>
            <a:blip r:embed="rId9"/>
            <a:stretch>
              <a:fillRect/>
            </a:stretch>
          </p:blipFill>
          <p:spPr>
            <a:xfrm>
              <a:off x="336804" y="1286256"/>
              <a:ext cx="824484" cy="188976"/>
            </a:xfrm>
            <a:prstGeom prst="rect">
              <a:avLst/>
            </a:prstGeom>
          </p:spPr>
        </p:pic>
        <p:sp>
          <p:nvSpPr>
            <p:cNvPr id="34" name="Rectangle 33"/>
            <p:cNvSpPr/>
            <p:nvPr/>
          </p:nvSpPr>
          <p:spPr>
            <a:xfrm>
              <a:off x="337109" y="1313053"/>
              <a:ext cx="823667" cy="189936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 indent="0" algn="l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100" b="1"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scheduling</a:t>
              </a:r>
              <a:endParaRPr lang="en-US" sz="12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35" name="Rectangle 34"/>
            <p:cNvSpPr/>
            <p:nvPr/>
          </p:nvSpPr>
          <p:spPr>
            <a:xfrm>
              <a:off x="955802" y="1282421"/>
              <a:ext cx="50673" cy="224380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 indent="0" algn="l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20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</a:p>
          </p:txBody>
        </p:sp>
        <p:pic>
          <p:nvPicPr>
            <p:cNvPr id="36" name="Picture 35"/>
            <p:cNvPicPr/>
            <p:nvPr/>
          </p:nvPicPr>
          <p:blipFill>
            <a:blip r:embed="rId6"/>
            <a:stretch>
              <a:fillRect/>
            </a:stretch>
          </p:blipFill>
          <p:spPr>
            <a:xfrm>
              <a:off x="957072" y="1286256"/>
              <a:ext cx="56388" cy="188976"/>
            </a:xfrm>
            <a:prstGeom prst="rect">
              <a:avLst/>
            </a:prstGeom>
          </p:spPr>
        </p:pic>
        <p:sp>
          <p:nvSpPr>
            <p:cNvPr id="37" name="Rectangle 36"/>
            <p:cNvSpPr/>
            <p:nvPr/>
          </p:nvSpPr>
          <p:spPr>
            <a:xfrm>
              <a:off x="957326" y="1313053"/>
              <a:ext cx="56502" cy="189936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 indent="0" algn="l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100"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)</a:t>
              </a:r>
              <a:endParaRPr lang="en-US" sz="12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38" name="Rectangle 37"/>
            <p:cNvSpPr/>
            <p:nvPr/>
          </p:nvSpPr>
          <p:spPr>
            <a:xfrm>
              <a:off x="999998" y="1282421"/>
              <a:ext cx="50673" cy="224380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 indent="0" algn="l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20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</a:p>
          </p:txBody>
        </p:sp>
        <p:pic>
          <p:nvPicPr>
            <p:cNvPr id="39" name="Picture 38"/>
            <p:cNvPicPr/>
            <p:nvPr/>
          </p:nvPicPr>
          <p:blipFill>
            <a:blip r:embed="rId5"/>
            <a:stretch>
              <a:fillRect/>
            </a:stretch>
          </p:blipFill>
          <p:spPr>
            <a:xfrm>
              <a:off x="998220" y="1286256"/>
              <a:ext cx="42672" cy="188976"/>
            </a:xfrm>
            <a:prstGeom prst="rect">
              <a:avLst/>
            </a:prstGeom>
          </p:spPr>
        </p:pic>
        <p:sp>
          <p:nvSpPr>
            <p:cNvPr id="40" name="Rectangle 39"/>
            <p:cNvSpPr/>
            <p:nvPr/>
          </p:nvSpPr>
          <p:spPr>
            <a:xfrm>
              <a:off x="998474" y="1319150"/>
              <a:ext cx="42144" cy="189936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 indent="0" algn="l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100" b="1"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 </a:t>
              </a:r>
              <a:endParaRPr lang="en-US" sz="12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41" name="Rectangle 40"/>
            <p:cNvSpPr/>
            <p:nvPr/>
          </p:nvSpPr>
          <p:spPr>
            <a:xfrm>
              <a:off x="1030478" y="1288518"/>
              <a:ext cx="50673" cy="224379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 indent="0" algn="l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20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4516" y="953729"/>
            <a:ext cx="7703574" cy="7767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Workflow of Data Analytics Project</a:t>
            </a:r>
            <a:endParaRPr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0" name="Group 9"/>
          <p:cNvGrpSpPr/>
          <p:nvPr/>
        </p:nvGrpSpPr>
        <p:grpSpPr>
          <a:xfrm>
            <a:off x="2641600" y="1730478"/>
            <a:ext cx="3736140" cy="4460978"/>
            <a:chOff x="0" y="0"/>
            <a:chExt cx="2506208" cy="3598466"/>
          </a:xfrm>
        </p:grpSpPr>
        <p:sp>
          <p:nvSpPr>
            <p:cNvPr id="11" name="Rectangle 10"/>
            <p:cNvSpPr/>
            <p:nvPr/>
          </p:nvSpPr>
          <p:spPr>
            <a:xfrm>
              <a:off x="2410333" y="3356136"/>
              <a:ext cx="54727" cy="242330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 indent="0" algn="l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30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endParaRPr lang="en-US" sz="12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2451481" y="3356136"/>
              <a:ext cx="54727" cy="242330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 indent="0" algn="l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30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endParaRPr lang="en-US" sz="12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pic>
          <p:nvPicPr>
            <p:cNvPr id="13" name="Picture 12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2409444" cy="3502152"/>
            </a:xfrm>
            <a:prstGeom prst="rect">
              <a:avLst/>
            </a:prstGeom>
          </p:spPr>
        </p:pic>
        <p:pic>
          <p:nvPicPr>
            <p:cNvPr id="14" name="Picture 13"/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83820" y="77724"/>
              <a:ext cx="2177796" cy="3285744"/>
            </a:xfrm>
            <a:prstGeom prst="rect">
              <a:avLst/>
            </a:prstGeom>
          </p:spPr>
        </p:pic>
        <p:sp>
          <p:nvSpPr>
            <p:cNvPr id="15" name="Shape 3017"/>
            <p:cNvSpPr/>
            <p:nvPr/>
          </p:nvSpPr>
          <p:spPr>
            <a:xfrm>
              <a:off x="60198" y="54102"/>
              <a:ext cx="2226564" cy="3332988"/>
            </a:xfrm>
            <a:custGeom>
              <a:avLst/>
              <a:gdLst/>
              <a:ahLst/>
              <a:cxnLst/>
              <a:rect l="0" t="0" r="0" b="0"/>
              <a:pathLst>
                <a:path w="2226564" h="3332988">
                  <a:moveTo>
                    <a:pt x="0" y="3332988"/>
                  </a:moveTo>
                  <a:lnTo>
                    <a:pt x="2226564" y="3332988"/>
                  </a:lnTo>
                  <a:lnTo>
                    <a:pt x="2226564" y="0"/>
                  </a:lnTo>
                  <a:lnTo>
                    <a:pt x="0" y="0"/>
                  </a:lnTo>
                  <a:close/>
                </a:path>
              </a:pathLst>
            </a:custGeom>
            <a:ln w="38100" cap="sq">
              <a:miter lim="127000"/>
            </a:ln>
          </p:spPr>
          <p:style>
            <a:lnRef idx="1">
              <a:srgbClr val="000000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700" y="1383981"/>
            <a:ext cx="8229600" cy="1143000"/>
          </a:xfrm>
        </p:spPr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10002" y="2526981"/>
            <a:ext cx="5233798" cy="2082567"/>
          </a:xfrm>
        </p:spPr>
        <p:txBody>
          <a:bodyPr>
            <a:normAutofit/>
          </a:bodyPr>
          <a:lstStyle/>
          <a:p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rPr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Power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 – Data modeling, DAX measures, interactive reports</a:t>
            </a:r>
          </a:p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DAX Queries</a:t>
            </a:r>
            <a:r>
              <a:rPr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querying, joins, aggregations</a:t>
            </a:r>
          </a:p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rPr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Jupyter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Notebooks – EDA &amp; </a:t>
            </a:r>
            <a:r>
              <a:rPr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documentation</a:t>
            </a:r>
            <a:endParaRPr lang="en-US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– Pandas,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Matplotlib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6999188" y="4514435"/>
            <a:ext cx="1078362" cy="1107362"/>
          </a:xfrm>
          <a:prstGeom prst="rect">
            <a:avLst/>
          </a:prstGeom>
        </p:spPr>
      </p:pic>
      <p:pic>
        <p:nvPicPr>
          <p:cNvPr id="5" name="Picture 4"/>
          <p:cNvPicPr/>
          <p:nvPr/>
        </p:nvPicPr>
        <p:blipFill>
          <a:blip r:embed="rId3"/>
          <a:stretch>
            <a:fillRect/>
          </a:stretch>
        </p:blipFill>
        <p:spPr>
          <a:xfrm>
            <a:off x="1325880" y="4696543"/>
            <a:ext cx="3246120" cy="105600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846138"/>
            <a:ext cx="8229600" cy="1143000"/>
          </a:xfrm>
        </p:spPr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Pages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800" y="1917699"/>
            <a:ext cx="8229600" cy="3332726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defRPr sz="1400">
                <a:solidFill>
                  <a:srgbClr val="000000"/>
                </a:solidFill>
                <a:latin typeface="Calibri"/>
              </a:defRPr>
            </a:pP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Hospital Performance Overview – KPIs, revenue, patient distribution</a:t>
            </a:r>
          </a:p>
          <a:p>
            <a:pPr marL="0" indent="0">
              <a:buNone/>
              <a:defRPr sz="1400">
                <a:solidFill>
                  <a:srgbClr val="000000"/>
                </a:solidFill>
                <a:latin typeface="Calibri"/>
              </a:defRPr>
            </a:pP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Doctor Insights – OPD visits, staff role distribution</a:t>
            </a:r>
          </a:p>
          <a:p>
            <a:pPr marL="0" indent="0">
              <a:buNone/>
              <a:defRPr sz="1400">
                <a:solidFill>
                  <a:srgbClr val="000000"/>
                </a:solidFill>
                <a:latin typeface="Calibri"/>
              </a:defRPr>
            </a:pP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Time &amp; Flow Analysis – busiest days, peak hours</a:t>
            </a:r>
          </a:p>
          <a:p>
            <a:pPr marL="0" indent="0">
              <a:buNone/>
              <a:defRPr sz="1400">
                <a:solidFill>
                  <a:srgbClr val="000000"/>
                </a:solidFill>
                <a:latin typeface="Calibri"/>
              </a:defRPr>
            </a:pP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Inventory Insights – supplier performance, cost analysis</a:t>
            </a:r>
          </a:p>
          <a:p>
            <a:pPr marL="0" indent="0">
              <a:buNone/>
              <a:defRPr sz="1400">
                <a:solidFill>
                  <a:srgbClr val="000000"/>
                </a:solidFill>
                <a:latin typeface="Calibri"/>
              </a:defRPr>
            </a:pP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Service Insights Hub – service utilization &amp; revenue </a:t>
            </a:r>
            <a:r>
              <a:rPr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contribution</a:t>
            </a:r>
            <a:endParaRPr lang="en-US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defRPr sz="1400">
                <a:solidFill>
                  <a:srgbClr val="000000"/>
                </a:solidFill>
                <a:latin typeface="Calibri"/>
              </a:defRPr>
            </a:pP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Web Link :  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Optimizing Hospital Operations Dashboard</a:t>
            </a:r>
            <a:endParaRPr lang="en-US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defRPr sz="1400">
                <a:solidFill>
                  <a:srgbClr val="000000"/>
                </a:solidFill>
                <a:latin typeface="Calibri"/>
              </a:defRPr>
            </a:pP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6305" y="1651819"/>
            <a:ext cx="8932058" cy="502428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81000" y="205269"/>
            <a:ext cx="89154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1400">
                <a:solidFill>
                  <a:srgbClr val="000000"/>
                </a:solidFill>
                <a:latin typeface="Calibri"/>
              </a:defRPr>
            </a:pPr>
            <a:r>
              <a:rPr lang="en-US" sz="4000" b="1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Hospital Performance Overview – KPIs, revenue, patient </a:t>
            </a:r>
            <a:r>
              <a:rPr lang="en-US" sz="40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distribution</a:t>
            </a:r>
          </a:p>
        </p:txBody>
      </p:sp>
    </p:spTree>
    <p:extLst>
      <p:ext uri="{BB962C8B-B14F-4D97-AF65-F5344CB8AC3E}">
        <p14:creationId xmlns:p14="http://schemas.microsoft.com/office/powerpoint/2010/main" val="38845829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3822" y="2044699"/>
            <a:ext cx="8518878" cy="479186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535469"/>
            <a:ext cx="89154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1400">
                <a:solidFill>
                  <a:srgbClr val="000000"/>
                </a:solidFill>
                <a:latin typeface="Calibri"/>
              </a:defRPr>
            </a:pPr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Doctor 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Insights – OPD visits, staff role distribution</a:t>
            </a:r>
          </a:p>
          <a:p>
            <a:pPr algn="ctr">
              <a:defRPr sz="1400">
                <a:solidFill>
                  <a:srgbClr val="000000"/>
                </a:solidFill>
                <a:latin typeface="Calibri"/>
              </a:defRPr>
            </a:pPr>
            <a:endParaRPr lang="en-US" sz="3600" b="1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41106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&amp; Flow Analysis – busiest days, peak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hours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8922" y="1600200"/>
            <a:ext cx="8046156" cy="4525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31723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3088" y="927100"/>
            <a:ext cx="8700912" cy="4894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07812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Inventory Insights – supplier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</a:t>
            </a:r>
            <a:r>
              <a:rPr lang="en-US" b="1" dirty="0"/>
              <a:t>, cost analysis</a:t>
            </a:r>
            <a:endParaRPr lang="en-US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8922" y="1600200"/>
            <a:ext cx="8046156" cy="4525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08290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Service Insights Hub – service utilization &amp; revenue contribution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8922" y="1600200"/>
            <a:ext cx="8046156" cy="4525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0256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336676"/>
            <a:ext cx="8229600" cy="1143000"/>
          </a:xfrm>
        </p:spPr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Real-World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3678" y="2239706"/>
            <a:ext cx="8229600" cy="2165555"/>
          </a:xfrm>
        </p:spPr>
        <p:txBody>
          <a:bodyPr>
            <a:normAutofit/>
          </a:bodyPr>
          <a:lstStyle/>
          <a:p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Management: Allocate resources &amp; staff based on real demand patterns</a:t>
            </a:r>
          </a:p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Finance: Monitor revenue, cut unnecessary expenses</a:t>
            </a:r>
          </a:p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Operations: Identify low-performing areas &amp; improve workflows</a:t>
            </a:r>
          </a:p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Patients: Reduced wait </a:t>
            </a:r>
            <a:r>
              <a:rPr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times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by allocating more doctors on busiest day</a:t>
            </a:r>
            <a:r>
              <a:rPr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 better service availability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658938"/>
            <a:ext cx="8229600" cy="1143000"/>
          </a:xfrm>
        </p:spPr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Prescriptive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800" y="2628901"/>
            <a:ext cx="8229600" cy="2730500"/>
          </a:xfrm>
        </p:spPr>
        <p:txBody>
          <a:bodyPr>
            <a:normAutofit/>
          </a:bodyPr>
          <a:lstStyle/>
          <a:p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extra OPD doctors on busiest day (Monday)</a:t>
            </a:r>
          </a:p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Tailor services &amp; marketing toward adult patients</a:t>
            </a:r>
          </a:p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Replace high-cost/low-performance suppliers</a:t>
            </a:r>
          </a:p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Promote Cardiology &amp; Orthopedics through campaigns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97193"/>
            <a:ext cx="8229600" cy="1143000"/>
          </a:xfrm>
        </p:spPr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63445" y="2448232"/>
            <a:ext cx="6268065" cy="2212258"/>
          </a:xfrm>
        </p:spPr>
        <p:txBody>
          <a:bodyPr>
            <a:normAutofit/>
          </a:bodyPr>
          <a:lstStyle/>
          <a:p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End-to-end analytics project execution</a:t>
            </a:r>
          </a:p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 hospital data handling &amp; ethical use</a:t>
            </a:r>
          </a:p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KPI creation in Power BI with DAX</a:t>
            </a:r>
          </a:p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Professional dashboard design for decision-making</a:t>
            </a:r>
          </a:p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Enhanced Python &amp; 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 analysis </a:t>
            </a:r>
            <a:r>
              <a:rPr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skills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87361"/>
            <a:ext cx="8229600" cy="1143000"/>
          </a:xfrm>
        </p:spPr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2714523"/>
            <a:ext cx="8229600" cy="1782097"/>
          </a:xfrm>
        </p:spPr>
        <p:txBody>
          <a:bodyPr>
            <a:normAutofit/>
          </a:bodyPr>
          <a:lstStyle/>
          <a:p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Delivered a </a:t>
            </a:r>
            <a:r>
              <a:rPr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user-friendly analy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sis</a:t>
            </a:r>
          </a:p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rPr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Enabled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data-driven hospital decisions</a:t>
            </a:r>
          </a:p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Ready for future upgrades with predictive analytics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427903"/>
            <a:ext cx="8229600" cy="1143000"/>
          </a:xfrm>
        </p:spPr>
        <p:txBody>
          <a:bodyPr/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02937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</TotalTime>
  <Words>764</Words>
  <Application>Microsoft Office PowerPoint</Application>
  <PresentationFormat>On-screen Show (4:3)</PresentationFormat>
  <Paragraphs>155</Paragraphs>
  <Slides>23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Arial</vt:lpstr>
      <vt:lpstr>Calibri</vt:lpstr>
      <vt:lpstr>Times New Roman</vt:lpstr>
      <vt:lpstr>Wingdings</vt:lpstr>
      <vt:lpstr>Office Theme</vt:lpstr>
      <vt:lpstr>Optimizing Hospital Operations Through Data Insights </vt:lpstr>
      <vt:lpstr>Table of Content</vt:lpstr>
      <vt:lpstr>About the Company</vt:lpstr>
      <vt:lpstr>Introduction to Hospital Operations &amp; Importance</vt:lpstr>
      <vt:lpstr>Why Do Hospital Operations Need Optimization?</vt:lpstr>
      <vt:lpstr>Problem Statement</vt:lpstr>
      <vt:lpstr>Data Source &amp; Novelty</vt:lpstr>
      <vt:lpstr>Datasets Used</vt:lpstr>
      <vt:lpstr>Project Workflow</vt:lpstr>
      <vt:lpstr>PowerPoint Presentation</vt:lpstr>
      <vt:lpstr>Technologies Used</vt:lpstr>
      <vt:lpstr>Dashboard Pages</vt:lpstr>
      <vt:lpstr>PowerPoint Presentation</vt:lpstr>
      <vt:lpstr>PowerPoint Presentation</vt:lpstr>
      <vt:lpstr>Time &amp; Flow Analysis – busiest days, peak hours</vt:lpstr>
      <vt:lpstr>PowerPoint Presentation</vt:lpstr>
      <vt:lpstr>Inventory Insights – supplier performance, cost analysis</vt:lpstr>
      <vt:lpstr>Service Insights Hub – service utilization &amp; revenue contribution</vt:lpstr>
      <vt:lpstr>Real-World Impact</vt:lpstr>
      <vt:lpstr>Prescriptive Recommendations</vt:lpstr>
      <vt:lpstr>Learning Outcomes</vt:lpstr>
      <vt:lpstr>Conclusion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Optimizing Hospital Operations Through Data Insights</dc:title>
  <dc:subject/>
  <dc:creator>DELL</dc:creator>
  <cp:keywords/>
  <dc:description>generated using python-pptx</dc:description>
  <cp:lastModifiedBy>DELL</cp:lastModifiedBy>
  <cp:revision>17</cp:revision>
  <dcterms:created xsi:type="dcterms:W3CDTF">2013-01-27T09:14:16Z</dcterms:created>
  <dcterms:modified xsi:type="dcterms:W3CDTF">2025-08-17T12:30:51Z</dcterms:modified>
  <cp:category/>
</cp:coreProperties>
</file>